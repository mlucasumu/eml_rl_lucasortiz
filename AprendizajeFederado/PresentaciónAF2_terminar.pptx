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61" r:id="rId2"/>
  </p:sldMasterIdLst>
  <p:notesMasterIdLst>
    <p:notesMasterId r:id="rId11"/>
  </p:notesMasterIdLst>
  <p:sldIdLst>
    <p:sldId id="287" r:id="rId3"/>
    <p:sldId id="256" r:id="rId4"/>
    <p:sldId id="257" r:id="rId5"/>
    <p:sldId id="291" r:id="rId6"/>
    <p:sldId id="258" r:id="rId7"/>
    <p:sldId id="289" r:id="rId8"/>
    <p:sldId id="290" r:id="rId9"/>
    <p:sldId id="259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371" autoAdjust="0"/>
  </p:normalViewPr>
  <p:slideViewPr>
    <p:cSldViewPr snapToGrid="0">
      <p:cViewPr varScale="1">
        <p:scale>
          <a:sx n="111" d="100"/>
          <a:sy n="111" d="100"/>
        </p:scale>
        <p:origin x="2178" y="3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116" d="100"/>
          <a:sy n="116" d="100"/>
        </p:scale>
        <p:origin x="5130" y="-15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DFAB2-4874-44C3-98B7-C794FF2A7315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4C6BC-9EB8-440A-8DD0-D2628395D8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275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07F3F3-6DDB-C64B-BADD-875F8E9F7FA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774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4C6BC-9EB8-440A-8DD0-D2628395D89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48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4C6BC-9EB8-440A-8DD0-D2628395D89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249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4C6BC-9EB8-440A-8DD0-D2628395D89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8107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4C6BC-9EB8-440A-8DD0-D2628395D89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0470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F8A8C-A21C-EB35-0677-F42B90A5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5ED4D7-1FFF-2544-D4AF-7A704A46B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FA0F7E-81F1-EE55-86F1-B08F58AA2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DD3761-69A9-C9F3-AB9A-B6D0FC2F0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4C6BC-9EB8-440A-8DD0-D2628395D89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1850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9CA6D-795E-78FA-9A97-564B4492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743F11-E0DC-A9A8-B30F-4EEE68B3C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66D006-65DB-7202-9F8B-2E11088DB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2A8B2E-6FDF-A60A-B0B8-1C44EAECF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4C6BC-9EB8-440A-8DD0-D2628395D89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5528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4C6BC-9EB8-440A-8DD0-D2628395D89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0698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A10D2-7999-5398-AB22-949F24C4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848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3650BF-21CF-6FB0-0671-6659F7E77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54B274-2059-28A3-9A3C-5ECA23A1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144451-ECBD-43BA-D7DB-3A12CD5F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489C9B-D0D1-891E-CA97-8C082C4C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22986-237C-48E7-ABBC-30B55D4B86E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DFE09F2-7722-4C5E-126A-BF85DDB42297}"/>
              </a:ext>
            </a:extLst>
          </p:cNvPr>
          <p:cNvCxnSpPr/>
          <p:nvPr userDrawn="1"/>
        </p:nvCxnSpPr>
        <p:spPr>
          <a:xfrm>
            <a:off x="0" y="140788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F643A93-7175-116F-4693-67AE274AB8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9116" y="408828"/>
            <a:ext cx="1409367" cy="71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0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8DAB8-EACE-40E9-8CE3-8AADE0D95ECC}" type="datetime1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4614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97CB-6D20-4DF4-A500-3E72C6446200}" type="datetime1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246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0282-7114-4A52-BE83-9CEC388CCCC9}" type="datetime1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26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4BA-7B44-425B-A107-1A2B6E566BA5}" type="datetime1">
              <a:rPr lang="es-ES" smtClean="0"/>
              <a:t>10/04/2026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115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641D-50AE-451B-BB76-CAE220540041}" type="datetime1">
              <a:rPr lang="es-ES" smtClean="0"/>
              <a:t>10/04/2026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54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49AE-2F46-41A8-9A0B-BFBE13A3A2F8}" type="datetime1">
              <a:rPr lang="es-ES" smtClean="0"/>
              <a:t>10/04/2026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46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AAB8-3CF6-497F-98CD-708BF871213F}" type="datetime1">
              <a:rPr lang="es-ES" smtClean="0"/>
              <a:t>10/04/2026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774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704-FD6B-4C2E-8B82-5DEA236DA094}" type="datetime1">
              <a:rPr lang="es-ES" smtClean="0"/>
              <a:t>10/04/2026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91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9B937-53F2-456C-BC0C-A21D421B0BF1}" type="datetime1">
              <a:rPr lang="es-ES" smtClean="0"/>
              <a:t>10/04/2026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21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01F9-96EA-4350-B43B-23AF26ACB59C}" type="datetime1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615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EB99-72EB-43F2-80B0-BEE932B67BDE}" type="datetime1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645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827AD2-E207-801C-A740-C0DEE57E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6066AF-54D3-54CA-AD07-AFD8CCC2C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214561-E3CC-DD1A-F597-0C8220BC6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0353E8-B8DB-4EFE-93D3-292724B1FA57}" type="datetime1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10/04/2026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07B0D-409C-E8E1-506A-BF43ED0A4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24A376-8F78-F51F-F919-FBA6DEE25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CCC264-4C22-4A5A-87FD-41D2218F43EA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13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E3EDB-C2C6-44E4-95D4-4AD9B4070768}" type="datetime1">
              <a:rPr lang="es-ES" smtClean="0"/>
              <a:t>10/04/2026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E1B96-9478-0442-B41A-DA54A265BE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581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9F85CAB-D5FB-9A08-7E57-3E624A0441F6}"/>
              </a:ext>
            </a:extLst>
          </p:cNvPr>
          <p:cNvSpPr txBox="1"/>
          <p:nvPr/>
        </p:nvSpPr>
        <p:spPr>
          <a:xfrm>
            <a:off x="747569" y="1047579"/>
            <a:ext cx="4247419" cy="44704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Extensión de Machine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Learning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4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Presentación de Artículo de Investigación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Self-Attention Fusion and Adaptive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Continual Updating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for Multimodal Federated Learning with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Heterogeneous Data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1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Marta lucas </a:t>
            </a:r>
            <a:r>
              <a:rPr kumimoji="0" lang="es-ES" sz="1400" b="0" i="1" u="none" strike="noStrike" kern="1200" cap="sm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marín</a:t>
            </a:r>
            <a:endParaRPr kumimoji="0" lang="es-ES" sz="1400" b="0" i="1" u="none" strike="noStrike" kern="1200" cap="sm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1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Francisco José Lucas Robles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prstClr val="white"/>
                </a:solidFill>
                <a:latin typeface="Calibri" panose="020F0502020204030204"/>
              </a:rPr>
              <a:t>JORGE ORTIZ RUIZ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1" u="none" strike="noStrike" kern="1200" cap="sm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1" u="none" strike="noStrike" kern="1200" cap="sm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Universidad de Murcia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Máster en Inteligencia Artificial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2025/2026</a:t>
            </a:r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F690509E-E0BB-26A6-9E6E-907CCC23B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812" y="1639856"/>
            <a:ext cx="3578290" cy="35782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57AB6FB-C07E-20A7-0D0D-B6E3B2F63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90" y="1783678"/>
            <a:ext cx="5677692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8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90"/>
    </mc:Choice>
    <mc:Fallback xmlns="">
      <p:transition spd="slow" advTm="171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9D211-1FF8-DA9B-2565-10F80301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Relevancia del problema de FL y MFL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A001E5-D498-2B85-F7DA-A0406D455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kern="100" dirty="0">
                <a:latin typeface="Times New Roman" panose="02020603050405020304" pitchFamily="18" charset="0"/>
              </a:rPr>
              <a:t>MFL</a:t>
            </a:r>
            <a:r>
              <a:rPr lang="es-ES" kern="100" dirty="0">
                <a:latin typeface="Times New Roman" panose="02020603050405020304" pitchFamily="18" charset="0"/>
              </a:rPr>
              <a:t>: entrenar modelos sin mover los datos del origen</a:t>
            </a:r>
            <a:endParaRPr lang="es-ES" b="1" kern="100" dirty="0">
              <a:latin typeface="Times New Roman" panose="02020603050405020304" pitchFamily="18" charset="0"/>
            </a:endParaRPr>
          </a:p>
          <a:p>
            <a:r>
              <a:rPr lang="es-ES" b="1" kern="100" dirty="0">
                <a:latin typeface="Times New Roman" panose="02020603050405020304" pitchFamily="18" charset="0"/>
              </a:rPr>
              <a:t>Restricciones: </a:t>
            </a:r>
            <a:r>
              <a:rPr lang="es-ES" kern="100" dirty="0">
                <a:latin typeface="Times New Roman" panose="02020603050405020304" pitchFamily="18" charset="0"/>
              </a:rPr>
              <a:t>legales, de propiedad o de privacidad.</a:t>
            </a:r>
            <a:endParaRPr lang="es-ES" b="1" kern="100" dirty="0">
              <a:latin typeface="Times New Roman" panose="02020603050405020304" pitchFamily="18" charset="0"/>
            </a:endParaRPr>
          </a:p>
          <a:p>
            <a:pPr marR="0" lvl="0" rtl="0"/>
            <a:r>
              <a:rPr lang="es-ES" b="1" i="0" u="none" strike="noStrike" kern="100" baseline="0" dirty="0">
                <a:latin typeface="Times New Roman" panose="02020603050405020304" pitchFamily="18" charset="0"/>
              </a:rPr>
              <a:t>Déficits sistemáticos no abordados de forma integrada por la literatura: </a:t>
            </a:r>
          </a:p>
          <a:p>
            <a:pPr marL="457200" marR="0" lvl="0" indent="-457200" rtl="0">
              <a:buFont typeface="Arial" panose="020B0604020202020204" pitchFamily="34" charset="0"/>
              <a:buChar char="•"/>
            </a:pPr>
            <a:r>
              <a:rPr lang="es-ES" i="0" u="none" strike="noStrike" kern="100" baseline="0" dirty="0">
                <a:latin typeface="Times New Roman" panose="02020603050405020304" pitchFamily="18" charset="0"/>
              </a:rPr>
              <a:t>Heterogeneidad estadística.</a:t>
            </a:r>
          </a:p>
          <a:p>
            <a:pPr marL="457200" marR="0" lvl="0" indent="-457200" rtl="0">
              <a:buFont typeface="Arial" panose="020B0604020202020204" pitchFamily="34" charset="0"/>
              <a:buChar char="•"/>
            </a:pPr>
            <a:r>
              <a:rPr lang="es-ES" kern="100" dirty="0">
                <a:latin typeface="Times New Roman" panose="02020603050405020304" pitchFamily="18" charset="0"/>
              </a:rPr>
              <a:t>Fusión multimodal estática e ineficaz.		Reto multimodal</a:t>
            </a:r>
          </a:p>
          <a:p>
            <a:pPr marL="457200" marR="0" lvl="0" indent="-457200" rtl="0">
              <a:buFont typeface="Arial" panose="020B0604020202020204" pitchFamily="34" charset="0"/>
              <a:buChar char="•"/>
            </a:pPr>
            <a:r>
              <a:rPr lang="es-ES" kern="100" dirty="0">
                <a:latin typeface="Times New Roman" panose="02020603050405020304" pitchFamily="18" charset="0"/>
              </a:rPr>
              <a:t>Ausencia de</a:t>
            </a:r>
            <a:r>
              <a:rPr lang="es-ES" i="0" u="none" strike="noStrike" kern="100" baseline="0" dirty="0">
                <a:latin typeface="Times New Roman" panose="02020603050405020304" pitchFamily="18" charset="0"/>
              </a:rPr>
              <a:t> de modalidades clave.</a:t>
            </a:r>
            <a:endParaRPr lang="es-ES" b="1" i="0" u="none" strike="noStrike" kern="100" baseline="0" dirty="0">
              <a:latin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5CA90A-2918-6BCA-5CA4-AFFD32EF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1D81-09E9-4025-9CF1-3F14E80F127D}" type="slidenum">
              <a:rPr lang="es-ES" smtClean="0"/>
              <a:t>2</a:t>
            </a:fld>
            <a:endParaRPr lang="es-ES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485F7048-1B5B-AB46-4792-A0E5888A8D94}"/>
              </a:ext>
            </a:extLst>
          </p:cNvPr>
          <p:cNvSpPr/>
          <p:nvPr/>
        </p:nvSpPr>
        <p:spPr>
          <a:xfrm>
            <a:off x="7136704" y="4424097"/>
            <a:ext cx="861646" cy="2286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804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72F1E-8A75-D1BE-6E49-743403DA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1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Reto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multimodal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1220E3-5226-1882-0895-A63432638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lvl="0" algn="ctr" rtl="0"/>
            <a:r>
              <a:rPr lang="es-ES" b="1" i="0" u="none" strike="noStrike" kern="100" baseline="0" dirty="0">
                <a:latin typeface="Times New Roman" panose="02020603050405020304" pitchFamily="18" charset="0"/>
              </a:rPr>
              <a:t>Expectativa vs Realidad</a:t>
            </a:r>
            <a:endParaRPr lang="es-ES" i="0" u="none" strike="noStrike" kern="100" baseline="0" dirty="0">
              <a:latin typeface="Times New Roman" panose="02020603050405020304" pitchFamily="18" charset="0"/>
            </a:endParaRPr>
          </a:p>
          <a:p>
            <a:pPr marR="0" lvl="0" rtl="0"/>
            <a:endParaRPr lang="es-ES" b="1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algn="ctr" rtl="0"/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algn="ctr" rtl="0"/>
            <a:r>
              <a:rPr lang="es-ES" sz="20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                </a:t>
            </a:r>
            <a:r>
              <a:rPr lang="es-ES" sz="2000" b="0" i="0" u="none" strike="noStrike" kern="100" baseline="0" dirty="0">
                <a:latin typeface="Times New Roman" panose="02020603050405020304" pitchFamily="18" charset="0"/>
              </a:rPr>
              <a:t>Escenario IID: MFL &gt; Unimodal      Escenario Real Non-IID: MFL &lt; Unimodal</a:t>
            </a:r>
          </a:p>
          <a:p>
            <a:pPr marR="0" lvl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						</a:t>
            </a:r>
            <a:r>
              <a:rPr lang="es-ES" b="0" i="0" u="none" strike="noStrike" kern="100" baseline="0" dirty="0" err="1">
                <a:latin typeface="Times New Roman" panose="02020603050405020304" pitchFamily="18" charset="0"/>
              </a:rPr>
              <a:t>Gradient</a:t>
            </a:r>
            <a:r>
              <a:rPr lang="es-ES" b="0" i="0" u="none" strike="noStrike" kern="100" baseline="0" dirty="0">
                <a:latin typeface="Times New Roman" panose="02020603050405020304" pitchFamily="18" charset="0"/>
              </a:rPr>
              <a:t> </a:t>
            </a:r>
            <a:r>
              <a:rPr lang="es-ES" b="0" i="0" u="none" strike="noStrike" kern="100" baseline="0" dirty="0" err="1">
                <a:latin typeface="Times New Roman" panose="02020603050405020304" pitchFamily="18" charset="0"/>
              </a:rPr>
              <a:t>Drift</a:t>
            </a:r>
            <a:endParaRPr lang="es-ES" b="0" i="0" u="none" strike="noStrike" kern="100" baseline="0" dirty="0">
              <a:latin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003F61-48CB-8C11-33B5-4C12E799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1D81-09E9-4025-9CF1-3F14E80F127D}" type="slidenum">
              <a:rPr lang="es-ES" smtClean="0"/>
              <a:t>3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F09BDD8-DDAE-37AD-7CA2-DD81C1E2C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383" y="2528807"/>
            <a:ext cx="4507012" cy="210282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17F44A7-748B-52EC-866A-F3CBC419A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95" y="2362096"/>
            <a:ext cx="2191056" cy="7335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2527D88-9AAE-7FDE-CA2D-D0D928602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85" y="3644056"/>
            <a:ext cx="2838846" cy="71447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0A31A6A-CBEF-BB13-B400-80C87DC21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3247" y="3162977"/>
            <a:ext cx="3162741" cy="83831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5AE105E-6583-A400-090D-A93A40C042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5964" y="2528807"/>
            <a:ext cx="3210373" cy="40010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2F0630C-BD68-5781-F48E-87D20E4767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53" y="3234576"/>
            <a:ext cx="3067478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9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9BE4-C194-53AF-202F-E4B2068F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146D5-0D13-97A4-113B-32DA6D3D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Contribución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B4A29E-B059-30B2-7265-8804326AB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0B7672-857B-924B-6488-B99E01C4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1D81-09E9-4025-9CF1-3F14E80F127D}" type="slidenum">
              <a:rPr lang="es-ES" smtClean="0"/>
              <a:t>4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3D6774D-38DD-D9E9-7000-05B20FBAC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547" y="3429000"/>
            <a:ext cx="8106906" cy="136226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3CDA76D-EC3B-32EB-65AA-1488FC919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758" y="2043302"/>
            <a:ext cx="6868484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8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CAB92-E326-CA59-5CC1-F7F0A5B9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Contribución 1 </a:t>
            </a:r>
            <a:r>
              <a:rPr lang="en-US" b="1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FSM – Federated Self-attention Multimodal feature fusion</a:t>
            </a:r>
            <a:endParaRPr lang="es-ES" b="1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5AA287-75AE-A216-4B36-285B768F8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087665-9DA6-A4AE-F63A-9D3CA7CF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1D81-09E9-4025-9CF1-3F14E80F127D}" type="slidenum">
              <a:rPr lang="es-ES" smtClean="0"/>
              <a:t>5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077AE1-1C70-F31D-0AA7-7B4E26733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387" y="1825622"/>
            <a:ext cx="6540640" cy="426780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988AA6C-74C5-B5EF-F034-C8C7B3B309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519"/>
          <a:stretch>
            <a:fillRect/>
          </a:stretch>
        </p:blipFill>
        <p:spPr>
          <a:xfrm rot="5400000">
            <a:off x="62585" y="2913547"/>
            <a:ext cx="4640152" cy="188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8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2E8C2-9853-F443-3A6D-BD718291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6760C-5654-8957-94B9-E901FA2D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Contribución 2 </a:t>
            </a:r>
            <a:r>
              <a:rPr lang="es-ES" b="1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FedMAC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— </a:t>
            </a:r>
            <a:r>
              <a:rPr lang="es-ES" b="1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Federated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Multimodal Adaptive </a:t>
            </a:r>
            <a:r>
              <a:rPr lang="es-ES" b="1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Continual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</a:t>
            </a:r>
            <a:r>
              <a:rPr lang="es-ES" b="1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update</a:t>
            </a:r>
            <a:endParaRPr lang="es-ES" b="1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4928BF-AD79-0F17-2727-F4708F96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1D81-09E9-4025-9CF1-3F14E80F127D}" type="slidenum">
              <a:rPr lang="es-ES" smtClean="0"/>
              <a:t>6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FFD68D-2B4F-87FF-4E98-45AA2E681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264" y="1607041"/>
            <a:ext cx="6122103" cy="5114434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6DCE81E-F97B-9585-D6B6-384B73121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432"/>
            <a:ext cx="10515600" cy="4351338"/>
          </a:xfrm>
        </p:spPr>
        <p:txBody>
          <a:bodyPr/>
          <a:lstStyle/>
          <a:p>
            <a:r>
              <a:rPr lang="es-ES" dirty="0"/>
              <a:t>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321632E-31BA-39B1-8F5C-01B70D735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53" y="1715831"/>
            <a:ext cx="4940799" cy="48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2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EF21-0FE7-4D72-F812-1C4CFA84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55540-B71A-FD6E-BA0E-992AC598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Contribución </a:t>
            </a:r>
            <a:r>
              <a:rPr lang="es-ES" b="1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3 </a:t>
            </a:r>
            <a:r>
              <a:rPr lang="es-ES" b="1" kern="10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Stable</a:t>
            </a:r>
            <a:r>
              <a:rPr lang="es-ES" b="1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 </a:t>
            </a:r>
            <a:r>
              <a:rPr lang="es-ES" b="1" kern="10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Diffusion</a:t>
            </a:r>
            <a:r>
              <a:rPr lang="es-ES" b="1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 para compleción de modalidad imagen</a:t>
            </a:r>
            <a:endParaRPr lang="es-ES" b="1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863ED2-F5EA-40F3-3541-F5056498F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R="0" lvl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5F8E46-B573-0A8E-2957-935A132A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1D81-09E9-4025-9CF1-3F14E80F127D}" type="slidenum">
              <a:rPr lang="es-ES" smtClean="0"/>
              <a:t>7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5241E4-61D5-BDC0-A85B-405706C51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343" y="2557192"/>
            <a:ext cx="6318318" cy="274919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47EEF3B-A4E4-7533-435D-0944CC96E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85" y="1976039"/>
            <a:ext cx="5343698" cy="405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0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786BE-F6DA-243E-E872-86968AF2C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s-E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Diseño, implementación, conclusiones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A2088A-1763-9343-6C24-E686A2FE4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rtl="0"/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077B69-9513-5BEE-E13E-5BC890DA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1D81-09E9-4025-9CF1-3F14E80F127D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510649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1883</TotalTime>
  <Words>176</Words>
  <Application>Microsoft Office PowerPoint</Application>
  <PresentationFormat>Panorámica</PresentationFormat>
  <Paragraphs>61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Cambria</vt:lpstr>
      <vt:lpstr>Times New Roman</vt:lpstr>
      <vt:lpstr>1_Tema de Office</vt:lpstr>
      <vt:lpstr>Office 2013 - Tema de 2022</vt:lpstr>
      <vt:lpstr>Presentación de PowerPoint</vt:lpstr>
      <vt:lpstr>Relevancia del problema de FL y MFL</vt:lpstr>
      <vt:lpstr>Reto multimodal</vt:lpstr>
      <vt:lpstr>Contribución</vt:lpstr>
      <vt:lpstr>Contribución 1 FSM – Federated Self-attention Multimodal feature fusion</vt:lpstr>
      <vt:lpstr>Contribución 2 FedMAC — Federated Multimodal Adaptive Continual update</vt:lpstr>
      <vt:lpstr>Contribución 3 Stable Diffusion para compleción de modalidad imagen</vt:lpstr>
      <vt:lpstr>Diseño, implementación,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José lucas robles</dc:creator>
  <cp:lastModifiedBy>Francisco José lucas robles</cp:lastModifiedBy>
  <cp:revision>4</cp:revision>
  <dcterms:created xsi:type="dcterms:W3CDTF">2026-04-10T07:52:00Z</dcterms:created>
  <dcterms:modified xsi:type="dcterms:W3CDTF">2026-04-11T15:24:52Z</dcterms:modified>
</cp:coreProperties>
</file>